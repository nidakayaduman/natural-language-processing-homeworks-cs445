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DM Sans Medium"/>
      <p:regular r:id="rId15"/>
      <p:bold r:id="rId16"/>
      <p:italic r:id="rId17"/>
      <p:boldItalic r:id="rId18"/>
    </p:embeddedFont>
    <p:embeddedFont>
      <p:font typeface="Chakra Petch Medium"/>
      <p:regular r:id="rId19"/>
      <p:bold r:id="rId20"/>
      <p:italic r:id="rId21"/>
      <p:boldItalic r:id="rId22"/>
    </p:embeddedFont>
    <p:embeddedFont>
      <p:font typeface="Chakra Petch SemiBold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hakraPetchMedium-bold.fntdata"/><Relationship Id="rId22" Type="http://schemas.openxmlformats.org/officeDocument/2006/relationships/font" Target="fonts/ChakraPetchMedium-boldItalic.fntdata"/><Relationship Id="rId21" Type="http://schemas.openxmlformats.org/officeDocument/2006/relationships/font" Target="fonts/ChakraPetchMedium-italic.fntdata"/><Relationship Id="rId24" Type="http://schemas.openxmlformats.org/officeDocument/2006/relationships/font" Target="fonts/ChakraPetchSemiBold-bold.fntdata"/><Relationship Id="rId23" Type="http://schemas.openxmlformats.org/officeDocument/2006/relationships/font" Target="fonts/ChakraPetch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hakraPetchSemiBold-boldItalic.fntdata"/><Relationship Id="rId25" Type="http://schemas.openxmlformats.org/officeDocument/2006/relationships/font" Target="fonts/ChakraPetchSemiBold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DMSansMedium-regular.fntdata"/><Relationship Id="rId14" Type="http://schemas.openxmlformats.org/officeDocument/2006/relationships/slide" Target="slides/slide8.xml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19" Type="http://schemas.openxmlformats.org/officeDocument/2006/relationships/font" Target="fonts/ChakraPetchMedium-regular.fntdata"/><Relationship Id="rId18" Type="http://schemas.openxmlformats.org/officeDocument/2006/relationships/font" Target="fonts/DM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8594944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18594944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18594944d4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18594944d4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8594944d4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18594944d4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196ee049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196ee049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96ee0496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196ee049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18594944d4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18594944d4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18594944d4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18594944d4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18594944d4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18594944d4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 flipH="1">
            <a:off x="365550" y="363450"/>
            <a:ext cx="8412900" cy="4416600"/>
          </a:xfrm>
          <a:prstGeom prst="snip2DiagRect">
            <a:avLst>
              <a:gd fmla="val 0" name="adj1"/>
              <a:gd fmla="val 31816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7"/>
          <p:cNvSpPr txBox="1"/>
          <p:nvPr>
            <p:ph type="ctrTitle"/>
          </p:nvPr>
        </p:nvSpPr>
        <p:spPr>
          <a:xfrm>
            <a:off x="1765375" y="363450"/>
            <a:ext cx="5614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1765375" y="4137750"/>
            <a:ext cx="5614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s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2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headers" type="tx">
  <p:cSld name="TITLE_AND_BODY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83" name="Google Shape;83;p1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84" name="Google Shape;84;p1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85" name="Google Shape;85;p1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1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1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Only" type="twoColTx">
  <p:cSld name="TITLE_AND_TWO_COLUMNS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2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0" name="Google Shape;100;p20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20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0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0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20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20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3" type="body"/>
          </p:nvPr>
        </p:nvSpPr>
        <p:spPr>
          <a:xfrm>
            <a:off x="478875" y="2398656"/>
            <a:ext cx="81903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18" name="Google Shape;118;p21"/>
          <p:cNvSpPr txBox="1"/>
          <p:nvPr>
            <p:ph idx="4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1 Image">
  <p:cSld name="TITLE_AND_TWO_COLUMNS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7" name="Google Shape;127;p22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2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2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2"/>
          <p:cNvSpPr txBox="1"/>
          <p:nvPr>
            <p:ph idx="4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5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6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7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8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1 Image">
  <p:cSld name="TITLE_ONLY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44" name="Google Shape;144;p2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3"/>
          <p:cNvSpPr/>
          <p:nvPr>
            <p:ph idx="3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47" name="Google Shape;147;p23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3"/>
          <p:cNvSpPr txBox="1"/>
          <p:nvPr>
            <p:ph idx="4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49" name="Google Shape;149;p23"/>
          <p:cNvSpPr txBox="1"/>
          <p:nvPr>
            <p:ph idx="5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2 Images">
  <p:cSld name="TITLE_AND_TWO_COLUMNS_1_1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7" name="Google Shape;157;p24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4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4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0" name="Google Shape;160;p24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>
            <p:ph idx="5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8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9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2 Images">
  <p:cSld name="TITLE_ONLY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76" name="Google Shape;176;p25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5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9" name="Google Shape;179;p25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5"/>
          <p:cNvSpPr txBox="1"/>
          <p:nvPr>
            <p:ph idx="5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82" name="Google Shape;182;p25"/>
          <p:cNvSpPr txBox="1"/>
          <p:nvPr>
            <p:ph idx="6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body text">
  <p:cSld name="ONE_COLUMN_TEXT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46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indent="-546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indent="-546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indent="-546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indent="-546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indent="-546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indent="-546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indent="-546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indent="-546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re overview">
  <p:cSld name="ONE_COLUMN_TEXT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9" name="Google Shape;199;p2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 txBox="1"/>
          <p:nvPr>
            <p:ph idx="3" type="body"/>
          </p:nvPr>
        </p:nvSpPr>
        <p:spPr>
          <a:xfrm>
            <a:off x="4630525" y="16931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27"/>
          <p:cNvSpPr txBox="1"/>
          <p:nvPr>
            <p:ph idx="4" type="body"/>
          </p:nvPr>
        </p:nvSpPr>
        <p:spPr>
          <a:xfrm>
            <a:off x="4630525" y="2307163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5" type="body"/>
          </p:nvPr>
        </p:nvSpPr>
        <p:spPr>
          <a:xfrm>
            <a:off x="4630525" y="29212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6" type="body"/>
          </p:nvPr>
        </p:nvSpPr>
        <p:spPr>
          <a:xfrm>
            <a:off x="4630525" y="35353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7" type="body"/>
          </p:nvPr>
        </p:nvSpPr>
        <p:spPr>
          <a:xfrm>
            <a:off x="4630525" y="4149450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8" type="body"/>
          </p:nvPr>
        </p:nvSpPr>
        <p:spPr>
          <a:xfrm>
            <a:off x="396350" y="2307163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9" type="body"/>
          </p:nvPr>
        </p:nvSpPr>
        <p:spPr>
          <a:xfrm>
            <a:off x="396350" y="29212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3" type="body"/>
          </p:nvPr>
        </p:nvSpPr>
        <p:spPr>
          <a:xfrm>
            <a:off x="396350" y="35353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4" type="body"/>
          </p:nvPr>
        </p:nvSpPr>
        <p:spPr>
          <a:xfrm>
            <a:off x="396350" y="4149450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5" type="body"/>
          </p:nvPr>
        </p:nvSpPr>
        <p:spPr>
          <a:xfrm>
            <a:off x="396350" y="16931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17" name="Google Shape;217;p2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218" name="Google Shape;218;p2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19" name="Google Shape;219;p2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5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30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4" name="Google Shape;234;p3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236" name="Google Shape;236;p31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37" name="Google Shape;237;p3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78875" y="2398650"/>
            <a:ext cx="81903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49" name="Google Shape;249;p33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 txBox="1"/>
          <p:nvPr>
            <p:ph idx="2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9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34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53" name="Google Shape;253;p34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grpSp>
          <p:nvGrpSpPr>
            <p:cNvPr id="254" name="Google Shape;254;p34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55" name="Google Shape;255;p34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6" name="Google Shape;256;p34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7" name="Google Shape;257;p34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4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65" name="Google Shape;265;p35"/>
          <p:cNvSpPr txBox="1"/>
          <p:nvPr>
            <p:ph idx="1" type="subTitle"/>
          </p:nvPr>
        </p:nvSpPr>
        <p:spPr>
          <a:xfrm>
            <a:off x="1127846" y="3242075"/>
            <a:ext cx="68853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478875" y="476700"/>
            <a:ext cx="8190300" cy="4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2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3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7"/>
          <p:cNvSpPr txBox="1"/>
          <p:nvPr>
            <p:ph type="title"/>
          </p:nvPr>
        </p:nvSpPr>
        <p:spPr>
          <a:xfrm>
            <a:off x="365625" y="1430850"/>
            <a:ext cx="4036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4628700" y="14308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8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8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p38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282" name="Google Shape;282;p38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8"/>
          <p:cNvSpPr txBox="1"/>
          <p:nvPr>
            <p:ph idx="1" type="subTitle"/>
          </p:nvPr>
        </p:nvSpPr>
        <p:spPr>
          <a:xfrm>
            <a:off x="47887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4" name="Google Shape;284;p38"/>
          <p:cNvSpPr txBox="1"/>
          <p:nvPr>
            <p:ph idx="2" type="subTitle"/>
          </p:nvPr>
        </p:nvSpPr>
        <p:spPr>
          <a:xfrm>
            <a:off x="3260538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5" name="Google Shape;285;p38"/>
          <p:cNvSpPr txBox="1"/>
          <p:nvPr>
            <p:ph idx="3" type="subTitle"/>
          </p:nvPr>
        </p:nvSpPr>
        <p:spPr>
          <a:xfrm>
            <a:off x="604222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4" type="subTitle"/>
          </p:nvPr>
        </p:nvSpPr>
        <p:spPr>
          <a:xfrm>
            <a:off x="47887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5" type="subTitle"/>
          </p:nvPr>
        </p:nvSpPr>
        <p:spPr>
          <a:xfrm>
            <a:off x="3260538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8" name="Google Shape;288;p38"/>
          <p:cNvSpPr txBox="1"/>
          <p:nvPr>
            <p:ph idx="6" type="subTitle"/>
          </p:nvPr>
        </p:nvSpPr>
        <p:spPr>
          <a:xfrm>
            <a:off x="604222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AND_TWO_COLUMNS_1_2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3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3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5" name="Google Shape;295;p39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4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3" name="Google Shape;303;p40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4" name="Google Shape;304;p40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05" name="Google Shape;305;p40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06" name="Google Shape;306;p40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40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6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" type="subTitle"/>
          </p:nvPr>
        </p:nvSpPr>
        <p:spPr>
          <a:xfrm>
            <a:off x="47887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0" name="Google Shape;310;p4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4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78875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6042300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16" name="Google Shape;316;p41"/>
          <p:cNvCxnSpPr/>
          <p:nvPr/>
        </p:nvCxnSpPr>
        <p:spPr>
          <a:xfrm>
            <a:off x="476850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41"/>
          <p:cNvSpPr txBox="1"/>
          <p:nvPr>
            <p:ph idx="4" type="subTitle"/>
          </p:nvPr>
        </p:nvSpPr>
        <p:spPr>
          <a:xfrm>
            <a:off x="3260538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604222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9" name="Google Shape;319;p41"/>
          <p:cNvSpPr txBox="1"/>
          <p:nvPr>
            <p:ph idx="6" type="body"/>
          </p:nvPr>
        </p:nvSpPr>
        <p:spPr>
          <a:xfrm>
            <a:off x="3260588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20" name="Google Shape;320;p41"/>
          <p:cNvCxnSpPr/>
          <p:nvPr/>
        </p:nvCxnSpPr>
        <p:spPr>
          <a:xfrm>
            <a:off x="3260538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1"/>
          <p:cNvCxnSpPr/>
          <p:nvPr/>
        </p:nvCxnSpPr>
        <p:spPr>
          <a:xfrm>
            <a:off x="6042225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p4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478875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8" name="Google Shape;328;p42"/>
          <p:cNvSpPr txBox="1"/>
          <p:nvPr>
            <p:ph idx="2" type="body"/>
          </p:nvPr>
        </p:nvSpPr>
        <p:spPr>
          <a:xfrm>
            <a:off x="4628700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9" name="Google Shape;329;p42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0" name="Google Shape;330;p42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5" type="body"/>
          </p:nvPr>
        </p:nvSpPr>
        <p:spPr>
          <a:xfrm>
            <a:off x="478875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2" name="Google Shape;332;p42"/>
          <p:cNvSpPr txBox="1"/>
          <p:nvPr>
            <p:ph idx="6" type="body"/>
          </p:nvPr>
        </p:nvSpPr>
        <p:spPr>
          <a:xfrm>
            <a:off x="4628700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3" name="Google Shape;333;p42"/>
          <p:cNvSpPr txBox="1"/>
          <p:nvPr>
            <p:ph idx="7" type="subTitle"/>
          </p:nvPr>
        </p:nvSpPr>
        <p:spPr>
          <a:xfrm>
            <a:off x="478885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4" name="Google Shape;334;p42"/>
          <p:cNvSpPr txBox="1"/>
          <p:nvPr>
            <p:ph idx="8" type="subTitle"/>
          </p:nvPr>
        </p:nvSpPr>
        <p:spPr>
          <a:xfrm>
            <a:off x="4628700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35" name="Google Shape;335;p42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2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2"/>
          <p:cNvCxnSpPr/>
          <p:nvPr/>
        </p:nvCxnSpPr>
        <p:spPr>
          <a:xfrm>
            <a:off x="47782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2"/>
          <p:cNvCxnSpPr/>
          <p:nvPr/>
        </p:nvCxnSpPr>
        <p:spPr>
          <a:xfrm>
            <a:off x="461407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AND_TWO_COLUMNS_1_2_1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43"/>
          <p:cNvSpPr/>
          <p:nvPr>
            <p:ph idx="2" type="pic"/>
          </p:nvPr>
        </p:nvSpPr>
        <p:spPr>
          <a:xfrm rot="10800000">
            <a:off x="474175" y="1837225"/>
            <a:ext cx="81906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5" name="Google Shape;345;p4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3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51" name="Google Shape;351;p44"/>
          <p:cNvSpPr/>
          <p:nvPr>
            <p:ph idx="2" type="pic"/>
          </p:nvPr>
        </p:nvSpPr>
        <p:spPr>
          <a:xfrm rot="10800000">
            <a:off x="4611300" y="1290400"/>
            <a:ext cx="40539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4"/>
          <p:cNvSpPr txBox="1"/>
          <p:nvPr>
            <p:ph idx="1" type="body"/>
          </p:nvPr>
        </p:nvSpPr>
        <p:spPr>
          <a:xfrm>
            <a:off x="478875" y="190315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3" name="Google Shape;353;p44"/>
          <p:cNvSpPr txBox="1"/>
          <p:nvPr>
            <p:ph idx="3" type="subTitle"/>
          </p:nvPr>
        </p:nvSpPr>
        <p:spPr>
          <a:xfrm>
            <a:off x="478885" y="12904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4" type="body"/>
          </p:nvPr>
        </p:nvSpPr>
        <p:spPr>
          <a:xfrm>
            <a:off x="4628700" y="366830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5" name="Google Shape;355;p44"/>
          <p:cNvSpPr txBox="1"/>
          <p:nvPr>
            <p:ph idx="5" type="subTitle"/>
          </p:nvPr>
        </p:nvSpPr>
        <p:spPr>
          <a:xfrm>
            <a:off x="4628700" y="305555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56" name="Google Shape;356;p44"/>
          <p:cNvCxnSpPr/>
          <p:nvPr/>
        </p:nvCxnSpPr>
        <p:spPr>
          <a:xfrm>
            <a:off x="476850" y="18110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4"/>
          <p:cNvCxnSpPr/>
          <p:nvPr/>
        </p:nvCxnSpPr>
        <p:spPr>
          <a:xfrm>
            <a:off x="4614075" y="357620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4"/>
          <p:cNvSpPr/>
          <p:nvPr>
            <p:ph idx="6" type="pic"/>
          </p:nvPr>
        </p:nvSpPr>
        <p:spPr>
          <a:xfrm rot="10800000">
            <a:off x="470175" y="3055550"/>
            <a:ext cx="40539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3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478875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1" name="Google Shape;361;p45"/>
          <p:cNvSpPr txBox="1"/>
          <p:nvPr>
            <p:ph idx="2" type="body"/>
          </p:nvPr>
        </p:nvSpPr>
        <p:spPr>
          <a:xfrm>
            <a:off x="6042300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2" name="Google Shape;362;p45"/>
          <p:cNvSpPr txBox="1"/>
          <p:nvPr>
            <p:ph idx="3" type="body"/>
          </p:nvPr>
        </p:nvSpPr>
        <p:spPr>
          <a:xfrm>
            <a:off x="3260588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3" name="Google Shape;363;p4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4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67" name="Google Shape;367;p45"/>
          <p:cNvSpPr/>
          <p:nvPr>
            <p:ph idx="4" type="pic"/>
          </p:nvPr>
        </p:nvSpPr>
        <p:spPr>
          <a:xfrm rot="10800000">
            <a:off x="4702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 txBox="1"/>
          <p:nvPr>
            <p:ph idx="5" type="subTitle"/>
          </p:nvPr>
        </p:nvSpPr>
        <p:spPr>
          <a:xfrm>
            <a:off x="47887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69" name="Google Shape;369;p45"/>
          <p:cNvCxnSpPr/>
          <p:nvPr/>
        </p:nvCxnSpPr>
        <p:spPr>
          <a:xfrm>
            <a:off x="476850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 txBox="1"/>
          <p:nvPr>
            <p:ph idx="6" type="subTitle"/>
          </p:nvPr>
        </p:nvSpPr>
        <p:spPr>
          <a:xfrm>
            <a:off x="3260538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71" name="Google Shape;371;p45"/>
          <p:cNvSpPr txBox="1"/>
          <p:nvPr>
            <p:ph idx="7" type="subTitle"/>
          </p:nvPr>
        </p:nvSpPr>
        <p:spPr>
          <a:xfrm>
            <a:off x="604222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72" name="Google Shape;372;p45"/>
          <p:cNvCxnSpPr/>
          <p:nvPr/>
        </p:nvCxnSpPr>
        <p:spPr>
          <a:xfrm>
            <a:off x="3260538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5"/>
          <p:cNvCxnSpPr/>
          <p:nvPr/>
        </p:nvCxnSpPr>
        <p:spPr>
          <a:xfrm>
            <a:off x="6042225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5"/>
          <p:cNvSpPr/>
          <p:nvPr>
            <p:ph idx="8" type="pic"/>
          </p:nvPr>
        </p:nvSpPr>
        <p:spPr>
          <a:xfrm rot="10800000">
            <a:off x="32625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5"/>
          <p:cNvSpPr/>
          <p:nvPr>
            <p:ph idx="9" type="pic"/>
          </p:nvPr>
        </p:nvSpPr>
        <p:spPr>
          <a:xfrm rot="10800000">
            <a:off x="60548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AND_TWO_COLUMNS_1_2_1_1"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8" name="Google Shape;378;p46"/>
          <p:cNvSpPr/>
          <p:nvPr>
            <p:ph idx="2" type="pic"/>
          </p:nvPr>
        </p:nvSpPr>
        <p:spPr>
          <a:xfrm rot="10800000">
            <a:off x="2100" y="300"/>
            <a:ext cx="9139800" cy="51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4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0" name="Google Shape;380;p4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_2_1_2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4" name="Google Shape;384;p4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4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7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47"/>
          <p:cNvSpPr/>
          <p:nvPr>
            <p:ph idx="2" type="pic"/>
          </p:nvPr>
        </p:nvSpPr>
        <p:spPr>
          <a:xfrm rot="10800000">
            <a:off x="4702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47"/>
          <p:cNvSpPr/>
          <p:nvPr>
            <p:ph idx="3" type="pic"/>
          </p:nvPr>
        </p:nvSpPr>
        <p:spPr>
          <a:xfrm rot="10800000">
            <a:off x="32625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7"/>
          <p:cNvSpPr/>
          <p:nvPr>
            <p:ph idx="4" type="pic"/>
          </p:nvPr>
        </p:nvSpPr>
        <p:spPr>
          <a:xfrm rot="10800000">
            <a:off x="60548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7"/>
          <p:cNvSpPr/>
          <p:nvPr>
            <p:ph idx="5" type="pic"/>
          </p:nvPr>
        </p:nvSpPr>
        <p:spPr>
          <a:xfrm rot="10800000">
            <a:off x="4702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7"/>
          <p:cNvSpPr/>
          <p:nvPr>
            <p:ph idx="6" type="pic"/>
          </p:nvPr>
        </p:nvSpPr>
        <p:spPr>
          <a:xfrm rot="10800000">
            <a:off x="32625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7"/>
          <p:cNvSpPr/>
          <p:nvPr>
            <p:ph idx="7" type="pic"/>
          </p:nvPr>
        </p:nvSpPr>
        <p:spPr>
          <a:xfrm rot="10800000">
            <a:off x="60548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8" type="pic"/>
          </p:nvPr>
        </p:nvSpPr>
        <p:spPr>
          <a:xfrm rot="10800000">
            <a:off x="4702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/>
          <p:nvPr>
            <p:ph idx="9" type="pic"/>
          </p:nvPr>
        </p:nvSpPr>
        <p:spPr>
          <a:xfrm rot="10800000">
            <a:off x="32625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47"/>
          <p:cNvSpPr/>
          <p:nvPr>
            <p:ph idx="13" type="pic"/>
          </p:nvPr>
        </p:nvSpPr>
        <p:spPr>
          <a:xfrm rot="10800000">
            <a:off x="60548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65625" y="947373"/>
            <a:ext cx="841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8863" y="251928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873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73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873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873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873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873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873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873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1.jpg"/><Relationship Id="rId6" Type="http://schemas.openxmlformats.org/officeDocument/2006/relationships/image" Target="../media/image3.jpg"/><Relationship Id="rId7" Type="http://schemas.openxmlformats.org/officeDocument/2006/relationships/image" Target="../media/image2.jpg"/><Relationship Id="rId8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ctrTitle"/>
          </p:nvPr>
        </p:nvSpPr>
        <p:spPr>
          <a:xfrm>
            <a:off x="1765375" y="363450"/>
            <a:ext cx="68481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CS 445 </a:t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Stance Detection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</p:txBody>
      </p:sp>
      <p:sp>
        <p:nvSpPr>
          <p:cNvPr id="401" name="Google Shape;401;p48"/>
          <p:cNvSpPr txBox="1"/>
          <p:nvPr>
            <p:ph idx="1" type="subTitle"/>
          </p:nvPr>
        </p:nvSpPr>
        <p:spPr>
          <a:xfrm>
            <a:off x="508575" y="1822000"/>
            <a:ext cx="5614500" cy="28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Serhan Emre Telatar - 29034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Nida Kayaduman -29063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Zeynep Merve Yaman - 28876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Bengi Ada Tüfeckci - 30720</a:t>
            </a:r>
            <a:endParaRPr/>
          </a:p>
        </p:txBody>
      </p:sp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type="title"/>
          </p:nvPr>
        </p:nvSpPr>
        <p:spPr>
          <a:xfrm>
            <a:off x="422500" y="43248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08" name="Google Shape;408;p49"/>
          <p:cNvSpPr txBox="1"/>
          <p:nvPr>
            <p:ph idx="1" type="body"/>
          </p:nvPr>
        </p:nvSpPr>
        <p:spPr>
          <a:xfrm>
            <a:off x="531025" y="1246350"/>
            <a:ext cx="8085000" cy="27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Objective</a:t>
            </a:r>
            <a:endParaRPr b="1" sz="22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To develop accurate stance detection models using the SemEval-2016 Stance Dataset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Current Progress</a:t>
            </a:r>
            <a:endParaRPr b="1" sz="2200"/>
          </a:p>
          <a:p>
            <a:pPr indent="-3556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Dataset was selected</a:t>
            </a:r>
            <a:endParaRPr/>
          </a:p>
          <a:p>
            <a:pPr indent="-3556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Roadmap and workload distributions were determined</a:t>
            </a:r>
            <a:endParaRPr/>
          </a:p>
          <a:p>
            <a:pPr indent="-3556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Starting on preprocessing</a:t>
            </a:r>
            <a:endParaRPr/>
          </a:p>
        </p:txBody>
      </p:sp>
      <p:sp>
        <p:nvSpPr>
          <p:cNvPr id="409" name="Google Shape;409;p4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208775" y="363450"/>
            <a:ext cx="5818200" cy="7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Dataset Selection</a:t>
            </a:r>
            <a:endParaRPr sz="5000"/>
          </a:p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50"/>
          <p:cNvSpPr txBox="1"/>
          <p:nvPr/>
        </p:nvSpPr>
        <p:spPr>
          <a:xfrm>
            <a:off x="341300" y="1102050"/>
            <a:ext cx="818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SemEval-2016 Stance Dataset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7" name="Google Shape;4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00" y="2880625"/>
            <a:ext cx="1036275" cy="10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600" y="1844375"/>
            <a:ext cx="1036275" cy="10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9863" y="1844375"/>
            <a:ext cx="1358785" cy="10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8638" y="1844375"/>
            <a:ext cx="1880250" cy="10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5625" y="2880625"/>
            <a:ext cx="1833275" cy="10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9875" y="2880625"/>
            <a:ext cx="1405741" cy="10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0"/>
          <p:cNvSpPr txBox="1"/>
          <p:nvPr/>
        </p:nvSpPr>
        <p:spPr>
          <a:xfrm>
            <a:off x="5306550" y="1252525"/>
            <a:ext cx="2786700" cy="29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Output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Topics: </a:t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Hillary Clinton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Donald Trump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Legalization of Abortion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Atheism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Feminist Movement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Climate Change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Stance: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Favor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Against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Neutral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 txBox="1"/>
          <p:nvPr>
            <p:ph idx="3" type="body"/>
          </p:nvPr>
        </p:nvSpPr>
        <p:spPr>
          <a:xfrm>
            <a:off x="365625" y="794975"/>
            <a:ext cx="84126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Why this Dataset?</a:t>
            </a:r>
            <a:endParaRPr sz="4100"/>
          </a:p>
        </p:txBody>
      </p:sp>
      <p:sp>
        <p:nvSpPr>
          <p:cNvPr id="429" name="Google Shape;429;p51"/>
          <p:cNvSpPr txBox="1"/>
          <p:nvPr/>
        </p:nvSpPr>
        <p:spPr>
          <a:xfrm>
            <a:off x="685800" y="1615450"/>
            <a:ext cx="25983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M Sans"/>
              <a:buChar char="●"/>
            </a:pPr>
            <a:r>
              <a:rPr lang="en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Relevance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M Sans"/>
              <a:buChar char="●"/>
            </a:pPr>
            <a:r>
              <a:rPr lang="en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Diversity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M Sans"/>
              <a:buChar char="●"/>
            </a:pPr>
            <a:r>
              <a:rPr lang="en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Structure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endParaRPr sz="2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0" name="Google Shape;43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205" y="1447775"/>
            <a:ext cx="4720845" cy="323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Split</a:t>
            </a:r>
            <a:endParaRPr/>
          </a:p>
        </p:txBody>
      </p:sp>
      <p:sp>
        <p:nvSpPr>
          <p:cNvPr id="436" name="Google Shape;436;p52"/>
          <p:cNvSpPr/>
          <p:nvPr>
            <p:ph idx="3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</p:spPr>
      </p:sp>
      <p:sp>
        <p:nvSpPr>
          <p:cNvPr id="437" name="Google Shape;437;p52"/>
          <p:cNvSpPr txBox="1"/>
          <p:nvPr>
            <p:ph idx="4" type="body"/>
          </p:nvPr>
        </p:nvSpPr>
        <p:spPr>
          <a:xfrm>
            <a:off x="4479100" y="2398650"/>
            <a:ext cx="41907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Set: (60%)</a:t>
            </a:r>
            <a:endParaRPr/>
          </a:p>
        </p:txBody>
      </p:sp>
      <p:pic>
        <p:nvPicPr>
          <p:cNvPr id="438" name="Google Shape;4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25" y="1837225"/>
            <a:ext cx="3779599" cy="28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2"/>
          <p:cNvSpPr txBox="1"/>
          <p:nvPr>
            <p:ph idx="4" type="body"/>
          </p:nvPr>
        </p:nvSpPr>
        <p:spPr>
          <a:xfrm>
            <a:off x="4479100" y="2892450"/>
            <a:ext cx="41907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</a:t>
            </a:r>
            <a:r>
              <a:rPr lang="en"/>
              <a:t> Set: (10%)</a:t>
            </a:r>
            <a:endParaRPr/>
          </a:p>
        </p:txBody>
      </p:sp>
      <p:sp>
        <p:nvSpPr>
          <p:cNvPr id="440" name="Google Shape;440;p52"/>
          <p:cNvSpPr txBox="1"/>
          <p:nvPr>
            <p:ph idx="4" type="body"/>
          </p:nvPr>
        </p:nvSpPr>
        <p:spPr>
          <a:xfrm>
            <a:off x="4479100" y="3386250"/>
            <a:ext cx="41907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</a:t>
            </a:r>
            <a:r>
              <a:rPr lang="en"/>
              <a:t> Set: (30%)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53"/>
          <p:cNvSpPr txBox="1"/>
          <p:nvPr>
            <p:ph type="title"/>
          </p:nvPr>
        </p:nvSpPr>
        <p:spPr>
          <a:xfrm>
            <a:off x="478875" y="78332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Plan</a:t>
            </a:r>
            <a:endParaRPr/>
          </a:p>
        </p:txBody>
      </p:sp>
      <p:sp>
        <p:nvSpPr>
          <p:cNvPr id="447" name="Google Shape;447;p53"/>
          <p:cNvSpPr txBox="1"/>
          <p:nvPr>
            <p:ph idx="3" type="body"/>
          </p:nvPr>
        </p:nvSpPr>
        <p:spPr>
          <a:xfrm>
            <a:off x="478875" y="2398659"/>
            <a:ext cx="81903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Replicate the model with the highest F-score in SemEval-2016 Task 6, which is the work of Mohammad et al. 2017. They used a SVM with the features: word and </a:t>
            </a:r>
            <a:r>
              <a:rPr lang="en"/>
              <a:t>character</a:t>
            </a:r>
            <a:r>
              <a:rPr lang="en"/>
              <a:t> n-grams,</a:t>
            </a:r>
            <a:r>
              <a:rPr lang="en"/>
              <a:t> the presence of the target of interest in the tweet, and Word2Vec Skip-gram word embeddings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Improve their results by using </a:t>
            </a:r>
            <a:r>
              <a:rPr lang="en"/>
              <a:t>BERT</a:t>
            </a:r>
            <a:r>
              <a:rPr lang="en"/>
              <a:t> word embeddings with SVMs, Naive Bayes, and FeedForward and </a:t>
            </a:r>
            <a:r>
              <a:rPr lang="en"/>
              <a:t>Recurrent</a:t>
            </a:r>
            <a:r>
              <a:rPr lang="en"/>
              <a:t> Neural Networks.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54"/>
          <p:cNvSpPr txBox="1"/>
          <p:nvPr>
            <p:ph idx="3" type="body"/>
          </p:nvPr>
        </p:nvSpPr>
        <p:spPr>
          <a:xfrm>
            <a:off x="458725" y="692552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54" name="Google Shape;454;p54"/>
          <p:cNvSpPr txBox="1"/>
          <p:nvPr/>
        </p:nvSpPr>
        <p:spPr>
          <a:xfrm>
            <a:off x="-137600" y="1414750"/>
            <a:ext cx="78516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SVM Model Development</a:t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BERT Model Implementation</a:t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Some tasks like report writing, presentation preparation and data preprocessing will be divided.</a:t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55" name="Google Shape;4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8300" y="2571750"/>
            <a:ext cx="2867382" cy="18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</a:t>
            </a:r>
            <a:endParaRPr/>
          </a:p>
        </p:txBody>
      </p:sp>
      <p:sp>
        <p:nvSpPr>
          <p:cNvPr id="461" name="Google Shape;461;p5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tional Games #4">
  <a:themeElements>
    <a:clrScheme name="Simple Light">
      <a:dk1>
        <a:srgbClr val="FFA38F"/>
      </a:dk1>
      <a:lt1>
        <a:srgbClr val="631212"/>
      </a:lt1>
      <a:dk2>
        <a:srgbClr val="FFFFFF"/>
      </a:dk2>
      <a:lt2>
        <a:srgbClr val="DDDDD8"/>
      </a:lt2>
      <a:accent1>
        <a:srgbClr val="2F4550"/>
      </a:accent1>
      <a:accent2>
        <a:srgbClr val="586F7C"/>
      </a:accent2>
      <a:accent3>
        <a:srgbClr val="9AC4F8"/>
      </a:accent3>
      <a:accent4>
        <a:srgbClr val="FFFECB"/>
      </a:accent4>
      <a:accent5>
        <a:srgbClr val="638475"/>
      </a:accent5>
      <a:accent6>
        <a:srgbClr val="635380"/>
      </a:accent6>
      <a:hlink>
        <a:srgbClr val="FFA3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